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491E-A7B9-465D-F8AC-77B115599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58EDB-0C15-69DC-D58D-2585121D7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1821A-AFB3-EA46-B34B-3B9FD1EB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083E7-0917-9987-E496-FA6329D6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3AA1F-DF4E-3E21-A10B-5601900E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44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5A53-AD59-4F7D-BF07-9FC15E83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E7477-3C50-0C06-CE57-6C883560D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1E0C2-A905-0CD1-AF88-ECF92BDB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657D9-ACBC-C67D-F308-2D992E2D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1B5A-7E79-2628-5A2F-76C9F2CF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31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4919-0202-D98F-D328-5B4EA59B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F6B41-CF53-DA69-DE84-303DA2A21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1E8AC-2208-ED62-9ED6-6DDB2098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AD581-C1D9-04C3-CDE7-E63A8181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2980-2700-9ECD-5B83-D0527D14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5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45C8-EF1A-AD12-4B4B-9D8A1085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3F79-2F22-1685-0D86-F08916BFF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D17BF-50EA-3EAD-D7A2-98FCB01C0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06A28-EE62-3B09-92F7-6836570C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4D8EB-C6CE-DC81-8806-74A2CFA2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632D9-DA5C-3B8E-9A1F-AB8425BA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66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A270-3B44-B481-EF33-5AFB1F40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723F9-4063-D179-2859-71364CF4F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D3B07-2812-EA4A-9268-15798F0A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D80E1-8EBD-CBF7-4B2D-82EE497BD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44F01-DBAD-8BD4-5607-2E873C9C7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F07B5-9622-5255-5E16-2E5D50C3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C3944-9C85-BE2E-962E-BA53D24D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02F89-6E48-FB4F-4835-DEB9FE8A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95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F9DA-D3C4-C819-EFF4-1D308629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BD4C0-F7A7-92BA-540F-24782ADD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60928-A89B-26C2-176D-A1CDCD4C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A790-6A36-C5C9-7B4A-AEE7FF2F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25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4486FE-E593-8A14-5C95-1B85BFF5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62124-7549-49EA-B1E7-31F6562BB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EFF55-F2D6-0977-60C6-AD54C1C5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41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250F-E9D6-35BB-B6D0-D5AA1E76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92CE8-BFCC-C133-7D2E-48150B6CC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E129D-24AC-1670-3CBB-30CF75D6C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C7795-318F-0C5D-D82D-D1ACA4F5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0C4A4-D09E-CB4F-E573-44475657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374-37E7-3D28-2F7B-86FFC21A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4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9CD7-9893-EE98-5987-65B1E848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FD9F0-B60F-C212-4E01-308F217D5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5D7F2-148E-3E5A-F54E-A8C1CC413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A08C6-AFFF-2044-46FC-4DBBA473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C86B2-73F2-69D7-84D4-5BC1D9AB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EA510-B2D2-C7E2-DB4F-DD3C78F4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64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C12C-2C90-82DD-B299-604478A3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AADC6-210E-C9D2-8781-C68AF3F42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7CF8-04FE-E90F-41A8-DF5DF18A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87CE-F66C-B607-196D-20CB957C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2046D-0E0B-E359-7A72-887679ED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05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3D639E-123F-E749-B3F9-13FE9D627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89CF5-2E5B-F3B0-D010-B503B8480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08C22-7110-E367-E583-69319427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3ACB8-1029-C41D-9BCF-D42B1519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726D9-6928-0B97-B8CC-F578F975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57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6A4D5-461A-AEF7-31C7-ECCD5E73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BC704-5DFE-6328-0CC6-DFCEA7DA9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E200D-96C8-AAEF-4DB6-00811AC39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D038A-9A88-44EB-82B3-27B6CB84906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4149-2F1F-2958-01CA-C1063E7FB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4E242-1475-05B8-1854-54AB1832D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F8B52-0EE4-44CE-9D04-854FA295F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80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F0D5-39BF-8CAB-0D02-CAD9EDF63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7147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Bluestock</a:t>
            </a:r>
            <a:r>
              <a:rPr lang="en-IN" b="1" dirty="0"/>
              <a:t> Mutual Fund Analytics</a:t>
            </a:r>
            <a:br>
              <a:rPr lang="en-IN" dirty="0"/>
            </a:br>
            <a:r>
              <a:rPr lang="en-IN" b="1" dirty="0"/>
              <a:t>Capstone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9C265-CEC8-60E4-E063-652D52266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0502" y="4398451"/>
            <a:ext cx="3755923" cy="109778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Prepared By:</a:t>
            </a:r>
            <a:br>
              <a:rPr lang="en-IN" dirty="0"/>
            </a:br>
            <a:r>
              <a:rPr lang="en-IN" dirty="0"/>
              <a:t>Hema Durga Prasad Sunkara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CSE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F42-9478-6A8E-BE11-4EA51A6D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05C5-324D-BFFF-35F4-A2D2012D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r>
              <a:rPr lang="en-IN" dirty="0"/>
              <a:t>Investors often struggle to evaluate mutual fund performance, risk, and market trends due to large volumes of financial data.</a:t>
            </a:r>
          </a:p>
          <a:p>
            <a:pPr marL="0" indent="0">
              <a:buNone/>
            </a:pPr>
            <a:r>
              <a:rPr lang="en-IN" b="1" dirty="0"/>
              <a:t>Objectives</a:t>
            </a:r>
          </a:p>
          <a:p>
            <a:r>
              <a:rPr lang="en-IN" dirty="0"/>
              <a:t>Build an ETL pipeline </a:t>
            </a:r>
          </a:p>
          <a:p>
            <a:r>
              <a:rPr lang="en-IN" dirty="0"/>
              <a:t>Clean and validate datasets </a:t>
            </a:r>
          </a:p>
          <a:p>
            <a:r>
              <a:rPr lang="en-IN" dirty="0"/>
              <a:t>Create a SQLite data warehouse </a:t>
            </a:r>
          </a:p>
          <a:p>
            <a:r>
              <a:rPr lang="en-IN" dirty="0"/>
              <a:t>Perform EDA and analytics </a:t>
            </a:r>
          </a:p>
          <a:p>
            <a:r>
              <a:rPr lang="en-IN" dirty="0"/>
              <a:t>Evaluate fund performance </a:t>
            </a:r>
          </a:p>
          <a:p>
            <a:r>
              <a:rPr lang="en-IN" dirty="0"/>
              <a:t>Build an interactive Power BI dashboard </a:t>
            </a:r>
          </a:p>
          <a:p>
            <a:r>
              <a:rPr lang="en-IN" dirty="0"/>
              <a:t>Generate actionable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30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0EEB-E476-3C63-32CA-CFB94370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8FAE-C7FB-6CF4-7214-63617C411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Datasets Used</a:t>
            </a:r>
          </a:p>
          <a:p>
            <a:pPr lvl="1"/>
            <a:r>
              <a:rPr lang="en-IN" dirty="0"/>
              <a:t>Fund Master </a:t>
            </a:r>
          </a:p>
          <a:p>
            <a:pPr lvl="1"/>
            <a:r>
              <a:rPr lang="en-IN" dirty="0"/>
              <a:t>NAV History </a:t>
            </a:r>
          </a:p>
          <a:p>
            <a:pPr lvl="1"/>
            <a:r>
              <a:rPr lang="en-IN" dirty="0"/>
              <a:t>AUM by Fund House </a:t>
            </a:r>
          </a:p>
          <a:p>
            <a:pPr lvl="1"/>
            <a:r>
              <a:rPr lang="en-IN" dirty="0"/>
              <a:t>Monthly SIP Inflows </a:t>
            </a:r>
          </a:p>
          <a:p>
            <a:pPr lvl="1"/>
            <a:r>
              <a:rPr lang="en-IN" dirty="0"/>
              <a:t>Category Inflows </a:t>
            </a:r>
          </a:p>
          <a:p>
            <a:pPr lvl="1"/>
            <a:r>
              <a:rPr lang="en-IN" dirty="0"/>
              <a:t>Industry Folio Count </a:t>
            </a:r>
          </a:p>
          <a:p>
            <a:pPr lvl="1"/>
            <a:r>
              <a:rPr lang="en-IN" dirty="0"/>
              <a:t>Scheme Performance </a:t>
            </a:r>
          </a:p>
          <a:p>
            <a:pPr lvl="1"/>
            <a:r>
              <a:rPr lang="en-IN" dirty="0"/>
              <a:t>Investor Transactions </a:t>
            </a:r>
          </a:p>
          <a:p>
            <a:pPr lvl="1"/>
            <a:r>
              <a:rPr lang="en-IN" dirty="0"/>
              <a:t>Portfolio Holdings </a:t>
            </a:r>
          </a:p>
          <a:p>
            <a:pPr lvl="1"/>
            <a:r>
              <a:rPr lang="en-IN" dirty="0"/>
              <a:t>Benchmark Indices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024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41E4-E73C-15DC-D376-ABD33B461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81864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18A89-DD45-F5DA-5D31-89E41538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B545D-7F0B-53AB-A22C-9A406E01DE63}"/>
              </a:ext>
            </a:extLst>
          </p:cNvPr>
          <p:cNvSpPr txBox="1"/>
          <p:nvPr/>
        </p:nvSpPr>
        <p:spPr>
          <a:xfrm>
            <a:off x="4829612" y="1445784"/>
            <a:ext cx="191040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Raw CSV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1BAEC-F2C1-D0CE-7A62-14F9D2BC143F}"/>
              </a:ext>
            </a:extLst>
          </p:cNvPr>
          <p:cNvSpPr txBox="1"/>
          <p:nvPr/>
        </p:nvSpPr>
        <p:spPr>
          <a:xfrm>
            <a:off x="4921044" y="2174634"/>
            <a:ext cx="2003806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Data Ingestion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BFC354-4173-19AE-EF97-7394A9FA84F9}"/>
              </a:ext>
            </a:extLst>
          </p:cNvPr>
          <p:cNvCxnSpPr>
            <a:cxnSpLocks/>
          </p:cNvCxnSpPr>
          <p:nvPr/>
        </p:nvCxnSpPr>
        <p:spPr>
          <a:xfrm flipH="1">
            <a:off x="5740435" y="1881621"/>
            <a:ext cx="139123" cy="245806"/>
          </a:xfrm>
          <a:prstGeom prst="straightConnector1">
            <a:avLst/>
          </a:prstGeom>
          <a:ln>
            <a:solidFill>
              <a:schemeClr val="accent6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6AAC3D-E256-8FAB-8DC4-28D4E1B528B8}"/>
              </a:ext>
            </a:extLst>
          </p:cNvPr>
          <p:cNvSpPr txBox="1"/>
          <p:nvPr/>
        </p:nvSpPr>
        <p:spPr>
          <a:xfrm>
            <a:off x="5014451" y="2761533"/>
            <a:ext cx="1632154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Data Cleaning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C4226B-60AC-C813-AEF7-1982D5FA222F}"/>
              </a:ext>
            </a:extLst>
          </p:cNvPr>
          <p:cNvSpPr txBox="1"/>
          <p:nvPr/>
        </p:nvSpPr>
        <p:spPr>
          <a:xfrm>
            <a:off x="4921043" y="3332184"/>
            <a:ext cx="181896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SQLite Database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2F7FCE-DD39-FD9A-5920-05808B04A111}"/>
              </a:ext>
            </a:extLst>
          </p:cNvPr>
          <p:cNvSpPr txBox="1"/>
          <p:nvPr/>
        </p:nvSpPr>
        <p:spPr>
          <a:xfrm>
            <a:off x="4973390" y="3898597"/>
            <a:ext cx="1673215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/>
              <a:t>EDA &amp; Analytics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35A30-4589-9721-0CEB-1E9FC95F6BE7}"/>
              </a:ext>
            </a:extLst>
          </p:cNvPr>
          <p:cNvSpPr txBox="1"/>
          <p:nvPr/>
        </p:nvSpPr>
        <p:spPr>
          <a:xfrm>
            <a:off x="4829612" y="4403029"/>
            <a:ext cx="200183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/>
              <a:t>Advanced Analytics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82A8A-2B8A-9D4F-C987-FD8D865F98AB}"/>
              </a:ext>
            </a:extLst>
          </p:cNvPr>
          <p:cNvSpPr txBox="1"/>
          <p:nvPr/>
        </p:nvSpPr>
        <p:spPr>
          <a:xfrm>
            <a:off x="4829612" y="4886975"/>
            <a:ext cx="2084738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/>
              <a:t>Power BI Dashboard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B42663-994A-7E8B-F2AC-5BBB7E6554CD}"/>
              </a:ext>
            </a:extLst>
          </p:cNvPr>
          <p:cNvSpPr txBox="1"/>
          <p:nvPr/>
        </p:nvSpPr>
        <p:spPr>
          <a:xfrm>
            <a:off x="4991227" y="5531969"/>
            <a:ext cx="1761508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/>
              <a:t>Business Insights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6FD42-53AE-4675-849C-EBDFAB3AD4B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5830528" y="2543966"/>
            <a:ext cx="92419" cy="21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E91F05-F8B4-16E1-FB57-D2C522AA441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830528" y="3130865"/>
            <a:ext cx="0" cy="201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2B8A93-CE18-A017-433A-8667F63E5EC1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5809998" y="3701516"/>
            <a:ext cx="20530" cy="19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9C703C0-2DC9-7344-BCF6-DB01C4EF44B7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809998" y="4267929"/>
            <a:ext cx="20529" cy="13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178D23-4344-BEE5-CD9E-AC720AFD261A}"/>
              </a:ext>
            </a:extLst>
          </p:cNvPr>
          <p:cNvCxnSpPr>
            <a:endCxn id="16" idx="0"/>
          </p:cNvCxnSpPr>
          <p:nvPr/>
        </p:nvCxnSpPr>
        <p:spPr>
          <a:xfrm>
            <a:off x="5830527" y="4772361"/>
            <a:ext cx="41454" cy="11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704155-845E-D259-CB0C-699349F77D83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5871981" y="5256307"/>
            <a:ext cx="0" cy="275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38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38C2-1231-0608-D142-79708014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EDA Highlights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6216F-0657-60BF-7B53-3FB978C3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NAV Trend Analysis</a:t>
            </a:r>
          </a:p>
          <a:p>
            <a:r>
              <a:rPr lang="en-IN" sz="2000" dirty="0" err="1"/>
              <a:t>Analyzed</a:t>
            </a:r>
            <a:r>
              <a:rPr lang="en-IN" sz="2000" dirty="0"/>
              <a:t> daily NAV movement for all schemes </a:t>
            </a:r>
          </a:p>
          <a:p>
            <a:r>
              <a:rPr lang="en-IN" sz="2000" dirty="0"/>
              <a:t>Identified growth patterns and market corrections </a:t>
            </a:r>
          </a:p>
          <a:p>
            <a:r>
              <a:rPr lang="en-IN" sz="2000" dirty="0"/>
              <a:t>Most funds demonstrated long-term upward trends </a:t>
            </a:r>
          </a:p>
          <a:p>
            <a:pPr marL="0" indent="0">
              <a:buNone/>
            </a:pPr>
            <a:r>
              <a:rPr lang="en-IN" b="1" dirty="0"/>
              <a:t>Key Insight</a:t>
            </a:r>
          </a:p>
          <a:p>
            <a:r>
              <a:rPr lang="en-IN" sz="2000" dirty="0"/>
              <a:t>Long-term investment strategies benefited from sustained NAV growth despite short-term volatility.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FBFFF-A4CB-B583-99A2-68697C923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74" y="4428517"/>
            <a:ext cx="6754762" cy="17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83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37BD-A943-6D1E-3F12-0EBB7C0E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EDA Highlights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8DECD-B95D-0191-3A1B-B75F94E63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AUM &amp; SIP Growth Analysis</a:t>
            </a:r>
          </a:p>
          <a:p>
            <a:r>
              <a:rPr lang="en-IN" dirty="0"/>
              <a:t>Compared fund house AUM growth </a:t>
            </a:r>
          </a:p>
          <a:p>
            <a:r>
              <a:rPr lang="en-IN" dirty="0"/>
              <a:t>Evaluated SIP inflow trends from 2022–2025 </a:t>
            </a:r>
          </a:p>
          <a:p>
            <a:r>
              <a:rPr lang="en-IN" dirty="0"/>
              <a:t>Retail participation increased significantly </a:t>
            </a:r>
          </a:p>
          <a:p>
            <a:pPr marL="0" indent="0">
              <a:buNone/>
            </a:pPr>
            <a:r>
              <a:rPr lang="en-IN" b="1" dirty="0"/>
              <a:t>Key Insight</a:t>
            </a:r>
          </a:p>
          <a:p>
            <a:r>
              <a:rPr lang="en-IN" dirty="0"/>
              <a:t>Rising SIP inflows indicate growing investor confidence and financial awareness.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73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E4AD-4140-C4BA-C7A7-10065622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B53FA-50F3-9BDF-2F84-668ADDB46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Metrics Computed</a:t>
            </a:r>
          </a:p>
          <a:p>
            <a:r>
              <a:rPr lang="en-IN" dirty="0"/>
              <a:t>CAGR (1Y, 3Y, 5Y) </a:t>
            </a:r>
          </a:p>
          <a:p>
            <a:r>
              <a:rPr lang="en-IN" dirty="0"/>
              <a:t>Sharpe Ratio </a:t>
            </a:r>
          </a:p>
          <a:p>
            <a:r>
              <a:rPr lang="en-IN" dirty="0"/>
              <a:t>Sortino Ratio </a:t>
            </a:r>
          </a:p>
          <a:p>
            <a:r>
              <a:rPr lang="en-IN" dirty="0"/>
              <a:t>Alpha </a:t>
            </a:r>
          </a:p>
          <a:p>
            <a:r>
              <a:rPr lang="en-IN" dirty="0"/>
              <a:t>Beta </a:t>
            </a:r>
          </a:p>
          <a:p>
            <a:r>
              <a:rPr lang="en-IN" dirty="0"/>
              <a:t>Maximum Drawdown </a:t>
            </a:r>
          </a:p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High Sharpe funds delivered better risk-adjusted returns </a:t>
            </a:r>
          </a:p>
          <a:p>
            <a:r>
              <a:rPr lang="en-IN" dirty="0"/>
              <a:t>Positive Alpha funds outperformed benchmarks </a:t>
            </a:r>
          </a:p>
          <a:p>
            <a:r>
              <a:rPr lang="en-IN" dirty="0"/>
              <a:t>Drawdown analysis highlighted downside risk exposure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78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DAF8-5EFD-3F1B-C15B-96D95EEC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34FC-78FF-9B71-EC7D-B9F2DFBF1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Advanced Models Implemented</a:t>
            </a:r>
          </a:p>
          <a:p>
            <a:r>
              <a:rPr lang="en-IN" dirty="0"/>
              <a:t>Value at Risk (</a:t>
            </a:r>
            <a:r>
              <a:rPr lang="en-IN" dirty="0" err="1"/>
              <a:t>VaR</a:t>
            </a:r>
            <a:r>
              <a:rPr lang="en-IN" dirty="0"/>
              <a:t>) </a:t>
            </a:r>
          </a:p>
          <a:p>
            <a:r>
              <a:rPr lang="en-IN" dirty="0"/>
              <a:t>Conditional </a:t>
            </a:r>
            <a:r>
              <a:rPr lang="en-IN" dirty="0" err="1"/>
              <a:t>VaR</a:t>
            </a:r>
            <a:r>
              <a:rPr lang="en-IN" dirty="0"/>
              <a:t> (CVaR) </a:t>
            </a:r>
          </a:p>
          <a:p>
            <a:r>
              <a:rPr lang="en-IN" dirty="0"/>
              <a:t>Rolling Sharpe Ratio </a:t>
            </a:r>
          </a:p>
          <a:p>
            <a:r>
              <a:rPr lang="en-IN" dirty="0"/>
              <a:t>Investor Cohort Analysis </a:t>
            </a:r>
          </a:p>
          <a:p>
            <a:r>
              <a:rPr lang="en-IN" dirty="0"/>
              <a:t>SIP Continuity Analysis </a:t>
            </a:r>
          </a:p>
          <a:p>
            <a:r>
              <a:rPr lang="en-IN" dirty="0"/>
              <a:t>HHI Concentration Analysis </a:t>
            </a:r>
          </a:p>
          <a:p>
            <a:r>
              <a:rPr lang="en-IN" dirty="0"/>
              <a:t>Fund Recommendation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093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3722-E67C-00F7-64B8-D291388A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Dashboard Screenshot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D607-3C27-DC05-620C-600CA340F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Industry Overview Dashboard</a:t>
            </a:r>
          </a:p>
          <a:p>
            <a:r>
              <a:rPr lang="en-IN" sz="2000" dirty="0"/>
              <a:t>Features:</a:t>
            </a:r>
          </a:p>
          <a:p>
            <a:r>
              <a:rPr lang="en-IN" sz="2000" dirty="0"/>
              <a:t>Total AUM </a:t>
            </a:r>
          </a:p>
          <a:p>
            <a:r>
              <a:rPr lang="en-IN" sz="2000" dirty="0"/>
              <a:t>SIP Inflows </a:t>
            </a:r>
          </a:p>
          <a:p>
            <a:r>
              <a:rPr lang="en-IN" sz="2000" dirty="0"/>
              <a:t>Total Folios </a:t>
            </a:r>
          </a:p>
          <a:p>
            <a:r>
              <a:rPr lang="en-IN" sz="2000" dirty="0"/>
              <a:t>Industry Trends </a:t>
            </a:r>
          </a:p>
          <a:p>
            <a:r>
              <a:rPr lang="en-IN" sz="2000" dirty="0"/>
              <a:t>AUM by AMC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4E2E1-C230-D636-EE34-DBF2ADBD0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568" y="2331853"/>
            <a:ext cx="6056671" cy="333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38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25F0-1D7B-0F06-D76E-354471ED7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Dashboard Screenshot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060A-227F-B590-1E79-0E7FC42D5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Fund Performance Dashboard</a:t>
            </a:r>
          </a:p>
          <a:p>
            <a:r>
              <a:rPr lang="en-IN" sz="2000" dirty="0"/>
              <a:t>Features:</a:t>
            </a:r>
          </a:p>
          <a:p>
            <a:r>
              <a:rPr lang="en-IN" sz="2000" dirty="0"/>
              <a:t>Return vs Risk Scatter Plot </a:t>
            </a:r>
          </a:p>
          <a:p>
            <a:r>
              <a:rPr lang="en-IN" sz="2000" dirty="0"/>
              <a:t>Fund Scorecard </a:t>
            </a:r>
          </a:p>
          <a:p>
            <a:r>
              <a:rPr lang="en-IN" sz="2000" dirty="0"/>
              <a:t>NAV Trend Analysis </a:t>
            </a:r>
          </a:p>
          <a:p>
            <a:r>
              <a:rPr lang="en-IN" sz="2000" dirty="0"/>
              <a:t>Interactive Filters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6150-97F7-25A9-4D4B-2C318EBE9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" t="1491" r="-1" b="15519"/>
          <a:stretch>
            <a:fillRect/>
          </a:stretch>
        </p:blipFill>
        <p:spPr>
          <a:xfrm>
            <a:off x="4414682" y="2163096"/>
            <a:ext cx="6053737" cy="355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C6B0-B417-9C6A-4EAB-9CC7A8513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07E7-3C20-95D7-B1C0-6F2244409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Major Findings</a:t>
            </a:r>
          </a:p>
          <a:p>
            <a:r>
              <a:rPr lang="en-IN" dirty="0"/>
              <a:t> SIP participation increased significantly</a:t>
            </a:r>
          </a:p>
          <a:p>
            <a:r>
              <a:rPr lang="en-IN" dirty="0"/>
              <a:t> Large-cap funds showed stable performance</a:t>
            </a:r>
          </a:p>
          <a:p>
            <a:r>
              <a:rPr lang="en-IN" dirty="0"/>
              <a:t> Risk-adjusted returns varied considerably</a:t>
            </a:r>
          </a:p>
          <a:p>
            <a:r>
              <a:rPr lang="en-IN" dirty="0"/>
              <a:t>Investor activity concentrated in major states</a:t>
            </a:r>
          </a:p>
          <a:p>
            <a:r>
              <a:rPr lang="en-IN" dirty="0"/>
              <a:t> Certain funds demonstrated superior Sharpe Ratios</a:t>
            </a:r>
          </a:p>
          <a:p>
            <a:r>
              <a:rPr lang="en-IN" dirty="0"/>
              <a:t> Portfolio concentration differed across schemes</a:t>
            </a:r>
          </a:p>
          <a:p>
            <a:r>
              <a:rPr lang="en-IN" dirty="0"/>
              <a:t> Dashboard enabled efficient investment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40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8FB7-949A-1A26-716C-1B8BBFA1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b="1" dirty="0"/>
          </a:p>
          <a:p>
            <a:pPr marL="0" indent="0" algn="ctr">
              <a:buNone/>
            </a:pPr>
            <a:endParaRPr lang="en-IN" sz="4800" b="1" dirty="0"/>
          </a:p>
          <a:p>
            <a:pPr marL="0" indent="0" algn="ctr">
              <a:buNone/>
            </a:pPr>
            <a:r>
              <a:rPr lang="en-IN" sz="4800" b="1" dirty="0"/>
              <a:t>Thank You</a:t>
            </a:r>
          </a:p>
          <a:p>
            <a:pPr marL="0" indent="0" algn="ctr">
              <a:buNone/>
            </a:pPr>
            <a:r>
              <a:rPr lang="en-IN" sz="4800" b="1" dirty="0" err="1"/>
              <a:t>Bluestock</a:t>
            </a:r>
            <a:r>
              <a:rPr lang="en-IN" sz="4800" b="1" dirty="0"/>
              <a:t> Mutual Fund Analytics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r">
              <a:buNone/>
            </a:pPr>
            <a:endParaRPr lang="en-IN" dirty="0"/>
          </a:p>
          <a:p>
            <a:pPr marL="0" indent="0" algn="r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Prepared By:</a:t>
            </a:r>
            <a:br>
              <a:rPr lang="en-IN" dirty="0"/>
            </a:br>
            <a:r>
              <a:rPr lang="en-IN" dirty="0"/>
              <a:t>                                                                            Hema Durga Prasad Sunkara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71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372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Bluestock Mutual Fund Analytics Capstone Project</vt:lpstr>
      <vt:lpstr>Problem Statement &amp; Objectives</vt:lpstr>
      <vt:lpstr>Data Sources</vt:lpstr>
      <vt:lpstr>System Architecture</vt:lpstr>
      <vt:lpstr>EDA Highlights 1</vt:lpstr>
      <vt:lpstr>EDA Highlights 2</vt:lpstr>
      <vt:lpstr>Performance Analytics</vt:lpstr>
      <vt:lpstr>Advanced Analytics</vt:lpstr>
      <vt:lpstr>Dashboard Screenshot</vt:lpstr>
      <vt:lpstr>Dashboard Screenshot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Sunkara</dc:creator>
  <cp:lastModifiedBy>Prasad Sunkara</cp:lastModifiedBy>
  <cp:revision>1</cp:revision>
  <dcterms:created xsi:type="dcterms:W3CDTF">2026-06-12T09:40:08Z</dcterms:created>
  <dcterms:modified xsi:type="dcterms:W3CDTF">2026-06-12T09:55:01Z</dcterms:modified>
</cp:coreProperties>
</file>